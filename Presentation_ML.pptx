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9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40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B4332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Prédiction de la Sécheresse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Agricole en Tunisie</a:t>
            </a:r>
            <a:endParaRPr lang="en-US" sz="3600" dirty="0">
              <a:solidFill>
                <a:srgbClr val="2D6A4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</a:t>
            </a:r>
            <a:endParaRPr lang="en-US" sz="1300" dirty="0">
              <a:solidFill>
                <a:srgbClr val="2D6A4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02920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b="1" dirty="0">
                <a:solidFill>
                  <a:srgbClr val="2D6A4F"/>
                </a:solidFill>
              </a:rPr>
              <a:t>Réalisée par</a:t>
            </a: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Souha Guezguez</a:t>
            </a:r>
            <a:endParaRPr lang="en-US" sz="1200" dirty="0">
              <a:solidFill>
                <a:srgbClr val="2D6A4F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4ème cycle — Data Science &amp; IA  |  2025/2026</a:t>
            </a:r>
            <a:endParaRPr lang="en-US" sz="1200" dirty="0">
              <a:solidFill>
                <a:srgbClr val="2D6A4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913940" y="715647"/>
            <a:ext cx="6958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"Peut-on prédire le niveau de </a:t>
            </a:r>
            <a:r>
              <a:rPr lang="en-US" sz="1100" i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sécheresse</a:t>
            </a:r>
            <a:r>
              <a:rPr lang="en-US" sz="1100" dirty="0"/>
              <a:t> </a:t>
            </a:r>
            <a:r>
              <a:rPr lang="en-US" sz="11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à partir des données météo historiques ?"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718719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23170" y="18966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79669" y="1846735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Précipitations -20 à -30%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 ans (INM Tunisie)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93868" y="2651407"/>
            <a:ext cx="5675811" cy="777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31029" y="281599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70410" y="2768627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Cultures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menacées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Blé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Olivier, Agrumes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93869" y="3547519"/>
            <a:ext cx="5675810" cy="777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331029" y="371211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31367" y="3638959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Tunisie parmi les pays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plus touchés d'Afrique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 Guezguez — Projet ML 2025/2026</a:t>
            </a:r>
            <a:endParaRPr lang="en-US" sz="800" dirty="0"/>
          </a:p>
        </p:txBody>
      </p:sp>
      <p:sp>
        <p:nvSpPr>
          <p:cNvPr id="27" name="Google Shape;447;g34baff7be12_1_0">
            <a:extLst>
              <a:ext uri="{FF2B5EF4-FFF2-40B4-BE49-F238E27FC236}">
                <a16:creationId xmlns:a16="http://schemas.microsoft.com/office/drawing/2014/main" id="{78BE3D1A-3AAD-A441-2832-C1F430FF40A0}"/>
              </a:ext>
            </a:extLst>
          </p:cNvPr>
          <p:cNvSpPr/>
          <p:nvPr/>
        </p:nvSpPr>
        <p:spPr>
          <a:xfrm>
            <a:off x="14159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454;g34baff7be12_1_0">
            <a:extLst>
              <a:ext uri="{FF2B5EF4-FFF2-40B4-BE49-F238E27FC236}">
                <a16:creationId xmlns:a16="http://schemas.microsoft.com/office/drawing/2014/main" id="{9BB29B33-4C7E-B4AB-0090-2D2BD26F2C1D}"/>
              </a:ext>
            </a:extLst>
          </p:cNvPr>
          <p:cNvSpPr/>
          <p:nvPr/>
        </p:nvSpPr>
        <p:spPr>
          <a:xfrm>
            <a:off x="2932000" y="-2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Google Shape;455;g34baff7be12_1_0">
            <a:extLst>
              <a:ext uri="{FF2B5EF4-FFF2-40B4-BE49-F238E27FC236}">
                <a16:creationId xmlns:a16="http://schemas.microsoft.com/office/drawing/2014/main" id="{949BD355-DC2E-5292-F2A0-A9ECF8E9FAD5}"/>
              </a:ext>
            </a:extLst>
          </p:cNvPr>
          <p:cNvSpPr/>
          <p:nvPr/>
        </p:nvSpPr>
        <p:spPr>
          <a:xfrm>
            <a:off x="4448050" y="-22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456;g34baff7be12_1_0">
            <a:extLst>
              <a:ext uri="{FF2B5EF4-FFF2-40B4-BE49-F238E27FC236}">
                <a16:creationId xmlns:a16="http://schemas.microsoft.com/office/drawing/2014/main" id="{62F27B69-F56A-903A-D172-A93BE5C4E917}"/>
              </a:ext>
            </a:extLst>
          </p:cNvPr>
          <p:cNvSpPr/>
          <p:nvPr/>
        </p:nvSpPr>
        <p:spPr>
          <a:xfrm>
            <a:off x="59597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457;g34baff7be12_1_0">
            <a:extLst>
              <a:ext uri="{FF2B5EF4-FFF2-40B4-BE49-F238E27FC236}">
                <a16:creationId xmlns:a16="http://schemas.microsoft.com/office/drawing/2014/main" id="{5CCE528D-7614-5B74-3649-09C949C054EE}"/>
              </a:ext>
            </a:extLst>
          </p:cNvPr>
          <p:cNvSpPr/>
          <p:nvPr/>
        </p:nvSpPr>
        <p:spPr>
          <a:xfrm>
            <a:off x="74802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458;g34baff7be12_1_0">
            <a:extLst>
              <a:ext uri="{FF2B5EF4-FFF2-40B4-BE49-F238E27FC236}">
                <a16:creationId xmlns:a16="http://schemas.microsoft.com/office/drawing/2014/main" id="{1A9CDC39-200B-2344-C0DF-FC247ECB9520}"/>
              </a:ext>
            </a:extLst>
          </p:cNvPr>
          <p:cNvSpPr/>
          <p:nvPr/>
        </p:nvSpPr>
        <p:spPr>
          <a:xfrm>
            <a:off x="-4450" y="-225"/>
            <a:ext cx="1611600" cy="335400"/>
          </a:xfrm>
          <a:prstGeom prst="rect">
            <a:avLst/>
          </a:prstGeom>
          <a:solidFill>
            <a:srgbClr val="2D6A4F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463;g34baff7be12_1_0">
            <a:extLst>
              <a:ext uri="{FF2B5EF4-FFF2-40B4-BE49-F238E27FC236}">
                <a16:creationId xmlns:a16="http://schemas.microsoft.com/office/drawing/2014/main" id="{3563FAA3-76F2-AEAE-3AB0-D0A466C43C89}"/>
              </a:ext>
            </a:extLst>
          </p:cNvPr>
          <p:cNvSpPr txBox="1"/>
          <p:nvPr/>
        </p:nvSpPr>
        <p:spPr>
          <a:xfrm>
            <a:off x="6110825" y="-75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463;g34baff7be12_1_0">
            <a:extLst>
              <a:ext uri="{FF2B5EF4-FFF2-40B4-BE49-F238E27FC236}">
                <a16:creationId xmlns:a16="http://schemas.microsoft.com/office/drawing/2014/main" id="{AB9070FE-A9CF-8FD5-37C8-6CCEC350645E}"/>
              </a:ext>
            </a:extLst>
          </p:cNvPr>
          <p:cNvSpPr txBox="1"/>
          <p:nvPr/>
        </p:nvSpPr>
        <p:spPr>
          <a:xfrm>
            <a:off x="7786875" y="-19138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0077" y="-172403"/>
            <a:ext cx="1247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r>
              <a:rPr lang="en-US" sz="1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464B230-2968-CBF1-7D9E-A187A602D620}"/>
              </a:ext>
            </a:extLst>
          </p:cNvPr>
          <p:cNvSpPr txBox="1"/>
          <p:nvPr/>
        </p:nvSpPr>
        <p:spPr>
          <a:xfrm>
            <a:off x="1657678" y="-67807"/>
            <a:ext cx="4807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Sources de Données</a:t>
            </a:r>
            <a:endParaRPr lang="en-US" sz="11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CD57A34-40C6-F694-FC42-3B3B869E9F6E}"/>
              </a:ext>
            </a:extLst>
          </p:cNvPr>
          <p:cNvSpPr txBox="1"/>
          <p:nvPr/>
        </p:nvSpPr>
        <p:spPr>
          <a:xfrm>
            <a:off x="3383280" y="13758"/>
            <a:ext cx="94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fr-FR" sz="1200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69F4D87-DCB2-BDF4-2BE5-FC81329ACBB2}"/>
              </a:ext>
            </a:extLst>
          </p:cNvPr>
          <p:cNvSpPr txBox="1"/>
          <p:nvPr/>
        </p:nvSpPr>
        <p:spPr>
          <a:xfrm>
            <a:off x="4899380" y="23570"/>
            <a:ext cx="9404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fr-FR" sz="11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AB962EC-22DC-FF6D-6919-B83332216B47}"/>
              </a:ext>
            </a:extLst>
          </p:cNvPr>
          <p:cNvSpPr txBox="1"/>
          <p:nvPr/>
        </p:nvSpPr>
        <p:spPr>
          <a:xfrm>
            <a:off x="6227265" y="-47969"/>
            <a:ext cx="12477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Meilleur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Modèle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100" dirty="0"/>
          </a:p>
        </p:txBody>
      </p:sp>
      <p:pic>
        <p:nvPicPr>
          <p:cNvPr id="46" name="Graphique 45">
            <a:extLst>
              <a:ext uri="{FF2B5EF4-FFF2-40B4-BE49-F238E27FC236}">
                <a16:creationId xmlns:a16="http://schemas.microsoft.com/office/drawing/2014/main" id="{AD86EFD5-8719-1D08-8FEC-D8D2AC8AF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27" y="1497807"/>
            <a:ext cx="2538746" cy="2538746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14BCE57F-C50E-71E0-6EEF-054A409F8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7457" y="885371"/>
            <a:ext cx="175070" cy="175070"/>
          </a:xfrm>
          <a:prstGeom prst="rect">
            <a:avLst/>
          </a:prstGeom>
        </p:spPr>
      </p:pic>
      <p:cxnSp>
        <p:nvCxnSpPr>
          <p:cNvPr id="50" name="Connecteur en angle 4">
            <a:extLst>
              <a:ext uri="{FF2B5EF4-FFF2-40B4-BE49-F238E27FC236}">
                <a16:creationId xmlns:a16="http://schemas.microsoft.com/office/drawing/2014/main" id="{115A4F75-FEEF-668F-4023-263BFE194593}"/>
              </a:ext>
            </a:extLst>
          </p:cNvPr>
          <p:cNvCxnSpPr/>
          <p:nvPr/>
        </p:nvCxnSpPr>
        <p:spPr>
          <a:xfrm flipV="1">
            <a:off x="2308997" y="2125286"/>
            <a:ext cx="985069" cy="744416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45CF898C-53D5-4621-E63C-6D9E3F72DBDF}"/>
              </a:ext>
            </a:extLst>
          </p:cNvPr>
          <p:cNvCxnSpPr/>
          <p:nvPr/>
        </p:nvCxnSpPr>
        <p:spPr>
          <a:xfrm>
            <a:off x="2132519" y="2869533"/>
            <a:ext cx="1061350" cy="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Connecteur en angle 19">
            <a:extLst>
              <a:ext uri="{FF2B5EF4-FFF2-40B4-BE49-F238E27FC236}">
                <a16:creationId xmlns:a16="http://schemas.microsoft.com/office/drawing/2014/main" id="{46AC7336-7076-5A91-CACA-14573F60C060}"/>
              </a:ext>
            </a:extLst>
          </p:cNvPr>
          <p:cNvCxnSpPr>
            <a:cxnSpLocks/>
          </p:cNvCxnSpPr>
          <p:nvPr/>
        </p:nvCxnSpPr>
        <p:spPr>
          <a:xfrm>
            <a:off x="2218669" y="2873111"/>
            <a:ext cx="1165723" cy="1071346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74320" y="743566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D6A4F"/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743566"/>
            <a:ext cx="2651760" cy="4114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77099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NASA POWER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4648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météo journalières</a:t>
            </a:r>
            <a:endParaRPr lang="en-US" sz="1000" dirty="0"/>
          </a:p>
          <a:p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2010–2023, 24 coordonnées GPS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743566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D6A4F"/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46120" y="743566"/>
            <a:ext cx="2651760" cy="411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337560" y="77099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🇹🇳  data.gov.tn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24648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Open Data Tunisien</a:t>
            </a:r>
            <a:endParaRPr lang="en-US" sz="1000" dirty="0"/>
          </a:p>
          <a:p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officielles DGACTA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743566"/>
            <a:ext cx="26517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D6A4F"/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17920" y="743566"/>
            <a:ext cx="265176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09360" y="77099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Indice SPI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24648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calculée</a:t>
            </a:r>
            <a:endParaRPr lang="en-US" sz="1000" dirty="0"/>
          </a:p>
          <a:p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Precipitation Index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871216"/>
            <a:ext cx="1645920" cy="914400"/>
          </a:xfrm>
          <a:prstGeom prst="rect">
            <a:avLst/>
          </a:prstGeom>
          <a:solidFill>
            <a:srgbClr val="0D281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31520" y="291693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122 712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3419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871216"/>
            <a:ext cx="1645920" cy="914400"/>
          </a:xfrm>
          <a:prstGeom prst="rect">
            <a:avLst/>
          </a:prstGeom>
          <a:solidFill>
            <a:srgbClr val="0D281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0" y="291693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743200" y="3419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871216"/>
            <a:ext cx="1645920" cy="914400"/>
          </a:xfrm>
          <a:prstGeom prst="rect">
            <a:avLst/>
          </a:prstGeom>
          <a:solidFill>
            <a:srgbClr val="0D281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291693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3419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2871216"/>
            <a:ext cx="1645920" cy="914400"/>
          </a:xfrm>
          <a:prstGeom prst="rect">
            <a:avLst/>
          </a:prstGeom>
          <a:solidFill>
            <a:srgbClr val="0D281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766560" y="291693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3419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8816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— Indice SPI 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0093" y="4224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Classe 0   Aucun risque  (SPI &gt; -0.5)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0093" y="44119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Classe 1   Modéré        (-1.0 &lt; SPI ≤ -0.5)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0093" y="466090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Classe 2   Sévère        (-1.5 &lt; SPI ≤ -1.0)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6517" y="4889713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Classe 3   Extrême       (SPI ≤ -1.5)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 Guezguez — Projet ML 2025/2026</a:t>
            </a:r>
            <a:endParaRPr lang="en-US" sz="800" dirty="0"/>
          </a:p>
        </p:txBody>
      </p:sp>
      <p:sp>
        <p:nvSpPr>
          <p:cNvPr id="34" name="Google Shape;447;g34baff7be12_1_0">
            <a:extLst>
              <a:ext uri="{FF2B5EF4-FFF2-40B4-BE49-F238E27FC236}">
                <a16:creationId xmlns:a16="http://schemas.microsoft.com/office/drawing/2014/main" id="{A7484BCB-DD3B-FA7D-3697-F42C2BE2BCFB}"/>
              </a:ext>
            </a:extLst>
          </p:cNvPr>
          <p:cNvSpPr/>
          <p:nvPr/>
        </p:nvSpPr>
        <p:spPr>
          <a:xfrm>
            <a:off x="14159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2D6A4F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454;g34baff7be12_1_0">
            <a:extLst>
              <a:ext uri="{FF2B5EF4-FFF2-40B4-BE49-F238E27FC236}">
                <a16:creationId xmlns:a16="http://schemas.microsoft.com/office/drawing/2014/main" id="{E5EAB628-C191-8AC0-E0A7-F8643D22F055}"/>
              </a:ext>
            </a:extLst>
          </p:cNvPr>
          <p:cNvSpPr/>
          <p:nvPr/>
        </p:nvSpPr>
        <p:spPr>
          <a:xfrm>
            <a:off x="2932000" y="-2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455;g34baff7be12_1_0">
            <a:extLst>
              <a:ext uri="{FF2B5EF4-FFF2-40B4-BE49-F238E27FC236}">
                <a16:creationId xmlns:a16="http://schemas.microsoft.com/office/drawing/2014/main" id="{2F6B9DB5-FD81-D7E3-BBE2-2EE8B188615C}"/>
              </a:ext>
            </a:extLst>
          </p:cNvPr>
          <p:cNvSpPr/>
          <p:nvPr/>
        </p:nvSpPr>
        <p:spPr>
          <a:xfrm>
            <a:off x="4448050" y="-22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456;g34baff7be12_1_0">
            <a:extLst>
              <a:ext uri="{FF2B5EF4-FFF2-40B4-BE49-F238E27FC236}">
                <a16:creationId xmlns:a16="http://schemas.microsoft.com/office/drawing/2014/main" id="{98CDA217-B1F6-B297-60CD-34879684E2CA}"/>
              </a:ext>
            </a:extLst>
          </p:cNvPr>
          <p:cNvSpPr/>
          <p:nvPr/>
        </p:nvSpPr>
        <p:spPr>
          <a:xfrm>
            <a:off x="59597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457;g34baff7be12_1_0">
            <a:extLst>
              <a:ext uri="{FF2B5EF4-FFF2-40B4-BE49-F238E27FC236}">
                <a16:creationId xmlns:a16="http://schemas.microsoft.com/office/drawing/2014/main" id="{B70ABA34-CF06-9C57-2245-049A07AAA7EB}"/>
              </a:ext>
            </a:extLst>
          </p:cNvPr>
          <p:cNvSpPr/>
          <p:nvPr/>
        </p:nvSpPr>
        <p:spPr>
          <a:xfrm>
            <a:off x="74802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Google Shape;458;g34baff7be12_1_0">
            <a:extLst>
              <a:ext uri="{FF2B5EF4-FFF2-40B4-BE49-F238E27FC236}">
                <a16:creationId xmlns:a16="http://schemas.microsoft.com/office/drawing/2014/main" id="{0D9AAE1F-95CD-5DCC-B15F-F84F56BDBFD9}"/>
              </a:ext>
            </a:extLst>
          </p:cNvPr>
          <p:cNvSpPr/>
          <p:nvPr/>
        </p:nvSpPr>
        <p:spPr>
          <a:xfrm>
            <a:off x="-4450" y="-225"/>
            <a:ext cx="1611600" cy="335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63;g34baff7be12_1_0">
            <a:extLst>
              <a:ext uri="{FF2B5EF4-FFF2-40B4-BE49-F238E27FC236}">
                <a16:creationId xmlns:a16="http://schemas.microsoft.com/office/drawing/2014/main" id="{63822180-43BE-36E0-92A4-0EBCA8A5B7A1}"/>
              </a:ext>
            </a:extLst>
          </p:cNvPr>
          <p:cNvSpPr txBox="1"/>
          <p:nvPr/>
        </p:nvSpPr>
        <p:spPr>
          <a:xfrm>
            <a:off x="6110825" y="-75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DDA88DB-C64B-12F1-80A9-1D90FFE7CD5A}"/>
              </a:ext>
            </a:extLst>
          </p:cNvPr>
          <p:cNvSpPr/>
          <p:nvPr/>
        </p:nvSpPr>
        <p:spPr>
          <a:xfrm>
            <a:off x="290077" y="-172403"/>
            <a:ext cx="1247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&amp;</a:t>
            </a:r>
          </a:p>
          <a:p>
            <a:pPr marL="0" indent="0">
              <a:buNone/>
            </a:pP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ADF1A77-AE96-5F39-BDF2-F86B6E3BD74D}"/>
              </a:ext>
            </a:extLst>
          </p:cNvPr>
          <p:cNvSpPr txBox="1"/>
          <p:nvPr/>
        </p:nvSpPr>
        <p:spPr>
          <a:xfrm>
            <a:off x="1822497" y="-48622"/>
            <a:ext cx="131884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de Données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8D09A30-C93E-AA04-7B94-2967982C6B6F}"/>
              </a:ext>
            </a:extLst>
          </p:cNvPr>
          <p:cNvSpPr txBox="1"/>
          <p:nvPr/>
        </p:nvSpPr>
        <p:spPr>
          <a:xfrm>
            <a:off x="3383280" y="13758"/>
            <a:ext cx="94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fr-FR" sz="12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411450F-365F-7E9A-4A57-3173C2067969}"/>
              </a:ext>
            </a:extLst>
          </p:cNvPr>
          <p:cNvSpPr txBox="1"/>
          <p:nvPr/>
        </p:nvSpPr>
        <p:spPr>
          <a:xfrm>
            <a:off x="4899380" y="23570"/>
            <a:ext cx="9404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fr-FR" sz="110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BC34FB7F-5930-16CA-F5AC-1A2B51ADC2ED}"/>
              </a:ext>
            </a:extLst>
          </p:cNvPr>
          <p:cNvSpPr txBox="1"/>
          <p:nvPr/>
        </p:nvSpPr>
        <p:spPr>
          <a:xfrm>
            <a:off x="6227265" y="-47969"/>
            <a:ext cx="12477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Meilleur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Modèle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100" dirty="0"/>
          </a:p>
        </p:txBody>
      </p:sp>
      <p:sp>
        <p:nvSpPr>
          <p:cNvPr id="46" name="Google Shape;463;g34baff7be12_1_0">
            <a:extLst>
              <a:ext uri="{FF2B5EF4-FFF2-40B4-BE49-F238E27FC236}">
                <a16:creationId xmlns:a16="http://schemas.microsoft.com/office/drawing/2014/main" id="{A0F501EB-CBB1-7DA9-83BE-822C774A0F3A}"/>
              </a:ext>
            </a:extLst>
          </p:cNvPr>
          <p:cNvSpPr txBox="1"/>
          <p:nvPr/>
        </p:nvSpPr>
        <p:spPr>
          <a:xfrm>
            <a:off x="7786875" y="-19138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10977" y="901030"/>
            <a:ext cx="1508760" cy="2560320"/>
          </a:xfrm>
          <a:prstGeom prst="rect">
            <a:avLst/>
          </a:prstGeom>
          <a:solidFill>
            <a:srgbClr val="0D281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13897" y="99247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13897" y="100161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97" y="163255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97" y="218119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gouvernorats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19737" y="2181190"/>
            <a:ext cx="210312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030049" y="901030"/>
            <a:ext cx="1508760" cy="2560320"/>
          </a:xfrm>
          <a:prstGeom prst="rect">
            <a:avLst/>
          </a:prstGeom>
          <a:solidFill>
            <a:srgbClr val="1B433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532969" y="99247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532969" y="100161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75769" y="163255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75769" y="218119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Corrélations, Outliers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38809" y="2181190"/>
            <a:ext cx="210312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749121" y="901030"/>
            <a:ext cx="1508760" cy="2560320"/>
          </a:xfrm>
          <a:prstGeom prst="rect">
            <a:avLst/>
          </a:prstGeom>
          <a:solidFill>
            <a:srgbClr val="2D6A4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252041" y="99247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252041" y="100161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841" y="163255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841" y="218119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Encodage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57881" y="2181190"/>
            <a:ext cx="210312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468193" y="901030"/>
            <a:ext cx="1508760" cy="2560320"/>
          </a:xfrm>
          <a:prstGeom prst="rect">
            <a:avLst/>
          </a:prstGeom>
          <a:solidFill>
            <a:srgbClr val="52B7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971113" y="99247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971113" y="100161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13913" y="163255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13913" y="218119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DT, RF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76953" y="2181190"/>
            <a:ext cx="210312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7187265" y="901030"/>
            <a:ext cx="1508760" cy="2560320"/>
          </a:xfrm>
          <a:prstGeom prst="rect">
            <a:avLst/>
          </a:prstGeom>
          <a:solidFill>
            <a:srgbClr val="40916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690185" y="99247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690185" y="100161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32985" y="163255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32985" y="218119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Confusion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4864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 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precip_rolling_7j   •   precip_rolling_30j   •   amplitude_thermique   •   jour_sec   •   saison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 Guezguez — Projet ML 2025/2026</a:t>
            </a:r>
            <a:endParaRPr lang="en-US" sz="800" dirty="0"/>
          </a:p>
        </p:txBody>
      </p:sp>
      <p:sp>
        <p:nvSpPr>
          <p:cNvPr id="38" name="Google Shape;447;g34baff7be12_1_0">
            <a:extLst>
              <a:ext uri="{FF2B5EF4-FFF2-40B4-BE49-F238E27FC236}">
                <a16:creationId xmlns:a16="http://schemas.microsoft.com/office/drawing/2014/main" id="{B9D0212E-B390-7ECF-D512-A943B78AFC16}"/>
              </a:ext>
            </a:extLst>
          </p:cNvPr>
          <p:cNvSpPr/>
          <p:nvPr/>
        </p:nvSpPr>
        <p:spPr>
          <a:xfrm>
            <a:off x="1415900" y="-7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Google Shape;454;g34baff7be12_1_0">
            <a:extLst>
              <a:ext uri="{FF2B5EF4-FFF2-40B4-BE49-F238E27FC236}">
                <a16:creationId xmlns:a16="http://schemas.microsoft.com/office/drawing/2014/main" id="{9DC45C49-D407-B4C9-59D5-27A688A2FB15}"/>
              </a:ext>
            </a:extLst>
          </p:cNvPr>
          <p:cNvSpPr/>
          <p:nvPr/>
        </p:nvSpPr>
        <p:spPr>
          <a:xfrm>
            <a:off x="2932000" y="-2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2D6A4F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55;g34baff7be12_1_0">
            <a:extLst>
              <a:ext uri="{FF2B5EF4-FFF2-40B4-BE49-F238E27FC236}">
                <a16:creationId xmlns:a16="http://schemas.microsoft.com/office/drawing/2014/main" id="{887DB510-AE74-C899-3274-E3966AA9DFAA}"/>
              </a:ext>
            </a:extLst>
          </p:cNvPr>
          <p:cNvSpPr/>
          <p:nvPr/>
        </p:nvSpPr>
        <p:spPr>
          <a:xfrm>
            <a:off x="4448050" y="-22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56;g34baff7be12_1_0">
            <a:extLst>
              <a:ext uri="{FF2B5EF4-FFF2-40B4-BE49-F238E27FC236}">
                <a16:creationId xmlns:a16="http://schemas.microsoft.com/office/drawing/2014/main" id="{976AA04A-3FC1-0BE8-ECDB-7D688418F70F}"/>
              </a:ext>
            </a:extLst>
          </p:cNvPr>
          <p:cNvSpPr/>
          <p:nvPr/>
        </p:nvSpPr>
        <p:spPr>
          <a:xfrm>
            <a:off x="59597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57;g34baff7be12_1_0">
            <a:extLst>
              <a:ext uri="{FF2B5EF4-FFF2-40B4-BE49-F238E27FC236}">
                <a16:creationId xmlns:a16="http://schemas.microsoft.com/office/drawing/2014/main" id="{634FE966-D24F-3F28-29E3-18128320EE99}"/>
              </a:ext>
            </a:extLst>
          </p:cNvPr>
          <p:cNvSpPr/>
          <p:nvPr/>
        </p:nvSpPr>
        <p:spPr>
          <a:xfrm>
            <a:off x="74802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58;g34baff7be12_1_0">
            <a:extLst>
              <a:ext uri="{FF2B5EF4-FFF2-40B4-BE49-F238E27FC236}">
                <a16:creationId xmlns:a16="http://schemas.microsoft.com/office/drawing/2014/main" id="{1156E64A-936E-5FEF-8806-B8B7BBB81BAD}"/>
              </a:ext>
            </a:extLst>
          </p:cNvPr>
          <p:cNvSpPr/>
          <p:nvPr/>
        </p:nvSpPr>
        <p:spPr>
          <a:xfrm>
            <a:off x="-4450" y="-225"/>
            <a:ext cx="1611600" cy="335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" name="Google Shape;463;g34baff7be12_1_0">
            <a:extLst>
              <a:ext uri="{FF2B5EF4-FFF2-40B4-BE49-F238E27FC236}">
                <a16:creationId xmlns:a16="http://schemas.microsoft.com/office/drawing/2014/main" id="{69A88FB5-FD47-2BE8-1E75-919F065B0962}"/>
              </a:ext>
            </a:extLst>
          </p:cNvPr>
          <p:cNvSpPr txBox="1"/>
          <p:nvPr/>
        </p:nvSpPr>
        <p:spPr>
          <a:xfrm>
            <a:off x="6110825" y="-75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B46F1449-E667-C00F-6DFA-7D940658BE51}"/>
              </a:ext>
            </a:extLst>
          </p:cNvPr>
          <p:cNvSpPr txBox="1"/>
          <p:nvPr/>
        </p:nvSpPr>
        <p:spPr>
          <a:xfrm>
            <a:off x="1595823" y="-69353"/>
            <a:ext cx="1508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Sources de Données</a:t>
            </a:r>
            <a:endParaRPr lang="en-US" sz="110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AC01BED6-36FC-4376-8C66-8B4593534B75}"/>
              </a:ext>
            </a:extLst>
          </p:cNvPr>
          <p:cNvSpPr txBox="1"/>
          <p:nvPr/>
        </p:nvSpPr>
        <p:spPr>
          <a:xfrm>
            <a:off x="3383280" y="13758"/>
            <a:ext cx="94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CDE160C5-D6C0-AF16-1C37-0CC24BD3AAB3}"/>
              </a:ext>
            </a:extLst>
          </p:cNvPr>
          <p:cNvSpPr txBox="1"/>
          <p:nvPr/>
        </p:nvSpPr>
        <p:spPr>
          <a:xfrm>
            <a:off x="4899380" y="23570"/>
            <a:ext cx="9404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fr-FR" sz="1100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BF95E849-D098-942B-AC30-DD886AA97151}"/>
              </a:ext>
            </a:extLst>
          </p:cNvPr>
          <p:cNvSpPr txBox="1"/>
          <p:nvPr/>
        </p:nvSpPr>
        <p:spPr>
          <a:xfrm>
            <a:off x="6227265" y="-47969"/>
            <a:ext cx="12477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Meilleur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Modèle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100" dirty="0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7DED566-9A4D-E80A-8359-9CA20CC5B9F6}"/>
              </a:ext>
            </a:extLst>
          </p:cNvPr>
          <p:cNvSpPr/>
          <p:nvPr/>
        </p:nvSpPr>
        <p:spPr>
          <a:xfrm>
            <a:off x="290077" y="-172403"/>
            <a:ext cx="1247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&amp;</a:t>
            </a:r>
          </a:p>
          <a:p>
            <a:pPr marL="0" indent="0">
              <a:buNone/>
            </a:pP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50" name="Google Shape;463;g34baff7be12_1_0">
            <a:extLst>
              <a:ext uri="{FF2B5EF4-FFF2-40B4-BE49-F238E27FC236}">
                <a16:creationId xmlns:a16="http://schemas.microsoft.com/office/drawing/2014/main" id="{B56C90C7-F5BA-6F6B-3E36-4897FE616A5E}"/>
              </a:ext>
            </a:extLst>
          </p:cNvPr>
          <p:cNvSpPr txBox="1"/>
          <p:nvPr/>
        </p:nvSpPr>
        <p:spPr>
          <a:xfrm>
            <a:off x="7786875" y="-19138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07541" y="850130"/>
            <a:ext cx="8412480" cy="594360"/>
          </a:xfrm>
          <a:prstGeom prst="rect">
            <a:avLst/>
          </a:prstGeom>
          <a:solidFill>
            <a:schemeClr val="bg1"/>
          </a:solidFill>
          <a:ln>
            <a:solidFill>
              <a:srgbClr val="2D6A4F"/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64741" y="9912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Logistic Regression</a:t>
            </a:r>
            <a:endParaRPr lang="en-US" sz="1050" b="1" dirty="0"/>
          </a:p>
        </p:txBody>
      </p:sp>
      <p:sp>
        <p:nvSpPr>
          <p:cNvPr id="6" name="Shape 4"/>
          <p:cNvSpPr/>
          <p:nvPr/>
        </p:nvSpPr>
        <p:spPr>
          <a:xfrm>
            <a:off x="3225061" y="1019494"/>
            <a:ext cx="32004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25061" y="1019494"/>
            <a:ext cx="1949044" cy="1645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8" name="Text 6"/>
          <p:cNvSpPr/>
          <p:nvPr/>
        </p:nvSpPr>
        <p:spPr>
          <a:xfrm>
            <a:off x="6516901" y="100120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48421" y="1019494"/>
            <a:ext cx="13716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248421" y="1019494"/>
            <a:ext cx="888797" cy="1645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248421" y="122980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0.648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7541" y="1606154"/>
            <a:ext cx="8595360" cy="604290"/>
          </a:xfrm>
          <a:prstGeom prst="rect">
            <a:avLst/>
          </a:prstGeom>
          <a:solidFill>
            <a:srgbClr val="FFFFFF"/>
          </a:solidFill>
          <a:ln>
            <a:solidFill>
              <a:srgbClr val="2D6A4F"/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36708" y="1725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Decision Tree</a:t>
            </a:r>
            <a:endParaRPr lang="en-US" sz="1050" b="1" dirty="0"/>
          </a:p>
        </p:txBody>
      </p:sp>
      <p:sp>
        <p:nvSpPr>
          <p:cNvPr id="14" name="Shape 12"/>
          <p:cNvSpPr/>
          <p:nvPr/>
        </p:nvSpPr>
        <p:spPr>
          <a:xfrm>
            <a:off x="3225061" y="1732726"/>
            <a:ext cx="32004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25061" y="1732726"/>
            <a:ext cx="2256282" cy="16459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516901" y="171443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48421" y="1732726"/>
            <a:ext cx="13716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248421" y="1732726"/>
            <a:ext cx="1008126" cy="16459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248421" y="194303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0.735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7541" y="2336230"/>
            <a:ext cx="8595360" cy="594360"/>
          </a:xfrm>
          <a:prstGeom prst="rect">
            <a:avLst/>
          </a:prstGeom>
          <a:solidFill>
            <a:schemeClr val="bg1"/>
          </a:solidFill>
          <a:ln>
            <a:solidFill>
              <a:srgbClr val="2D6A4F"/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56181" y="244595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b="1" dirty="0"/>
          </a:p>
        </p:txBody>
      </p:sp>
      <p:sp>
        <p:nvSpPr>
          <p:cNvPr id="22" name="Shape 20"/>
          <p:cNvSpPr/>
          <p:nvPr/>
        </p:nvSpPr>
        <p:spPr>
          <a:xfrm>
            <a:off x="3225061" y="2445958"/>
            <a:ext cx="32004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25061" y="2445958"/>
            <a:ext cx="2560320" cy="164592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516901" y="242767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48421" y="2445958"/>
            <a:ext cx="13716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248421" y="2445958"/>
            <a:ext cx="1065733" cy="164592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248421" y="265627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0.777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7541" y="3049462"/>
            <a:ext cx="85953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2D6A4F"/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18262" y="315919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b="1" dirty="0"/>
          </a:p>
        </p:txBody>
      </p:sp>
      <p:sp>
        <p:nvSpPr>
          <p:cNvPr id="30" name="Shape 28"/>
          <p:cNvSpPr/>
          <p:nvPr/>
        </p:nvSpPr>
        <p:spPr>
          <a:xfrm>
            <a:off x="3225061" y="3159190"/>
            <a:ext cx="32004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25061" y="3159190"/>
            <a:ext cx="2656332" cy="164592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516901" y="314090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48421" y="3159190"/>
            <a:ext cx="13716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7248421" y="3159190"/>
            <a:ext cx="1146658" cy="164592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248421" y="336950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0.836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90421" y="3762694"/>
            <a:ext cx="8412480" cy="594360"/>
          </a:xfrm>
          <a:prstGeom prst="rect">
            <a:avLst/>
          </a:prstGeom>
          <a:solidFill>
            <a:srgbClr val="D8F3D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90421" y="3762694"/>
            <a:ext cx="91440" cy="594360"/>
          </a:xfrm>
          <a:prstGeom prst="rect">
            <a:avLst/>
          </a:prstGeom>
          <a:solidFill>
            <a:srgbClr val="0D28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014051" y="38471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Optimisé ✅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25061" y="3872422"/>
            <a:ext cx="32004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25061" y="3872422"/>
            <a:ext cx="2797150" cy="164592"/>
          </a:xfrm>
          <a:prstGeom prst="rect">
            <a:avLst/>
          </a:prstGeom>
          <a:solidFill>
            <a:srgbClr val="0D28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516901" y="385413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48421" y="3872422"/>
            <a:ext cx="137160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7248421" y="3872422"/>
            <a:ext cx="1197407" cy="164592"/>
          </a:xfrm>
          <a:prstGeom prst="rect">
            <a:avLst/>
          </a:prstGeom>
          <a:solidFill>
            <a:srgbClr val="0D281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248421" y="408273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0.873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50349" y="85033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→</a:t>
            </a:r>
            <a:endParaRPr lang="en-US" sz="800" b="1" dirty="0"/>
          </a:p>
        </p:txBody>
      </p:sp>
      <p:sp>
        <p:nvSpPr>
          <p:cNvPr id="46" name="Text 44"/>
          <p:cNvSpPr/>
          <p:nvPr/>
        </p:nvSpPr>
        <p:spPr>
          <a:xfrm>
            <a:off x="7281497" y="85033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→</a:t>
            </a:r>
            <a:endParaRPr lang="en-US" sz="800" b="1" dirty="0"/>
          </a:p>
        </p:txBody>
      </p:sp>
      <p:sp>
        <p:nvSpPr>
          <p:cNvPr id="47" name="Text 4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 Guezguez — Projet ML 2025/2026</a:t>
            </a:r>
            <a:endParaRPr lang="en-US" sz="800" dirty="0"/>
          </a:p>
        </p:txBody>
      </p:sp>
      <p:sp>
        <p:nvSpPr>
          <p:cNvPr id="58" name="Google Shape;447;g34baff7be12_1_0">
            <a:extLst>
              <a:ext uri="{FF2B5EF4-FFF2-40B4-BE49-F238E27FC236}">
                <a16:creationId xmlns:a16="http://schemas.microsoft.com/office/drawing/2014/main" id="{9AD54C76-EA71-35A3-76F1-9B977312611E}"/>
              </a:ext>
            </a:extLst>
          </p:cNvPr>
          <p:cNvSpPr/>
          <p:nvPr/>
        </p:nvSpPr>
        <p:spPr>
          <a:xfrm>
            <a:off x="1415900" y="-7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454;g34baff7be12_1_0">
            <a:extLst>
              <a:ext uri="{FF2B5EF4-FFF2-40B4-BE49-F238E27FC236}">
                <a16:creationId xmlns:a16="http://schemas.microsoft.com/office/drawing/2014/main" id="{29FA8ABD-3AEC-FF74-18AC-09AB0E639B1F}"/>
              </a:ext>
            </a:extLst>
          </p:cNvPr>
          <p:cNvSpPr/>
          <p:nvPr/>
        </p:nvSpPr>
        <p:spPr>
          <a:xfrm>
            <a:off x="2932000" y="-2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455;g34baff7be12_1_0">
            <a:extLst>
              <a:ext uri="{FF2B5EF4-FFF2-40B4-BE49-F238E27FC236}">
                <a16:creationId xmlns:a16="http://schemas.microsoft.com/office/drawing/2014/main" id="{B86393DF-721A-A332-8443-7BBC3A317AA7}"/>
              </a:ext>
            </a:extLst>
          </p:cNvPr>
          <p:cNvSpPr/>
          <p:nvPr/>
        </p:nvSpPr>
        <p:spPr>
          <a:xfrm>
            <a:off x="4448050" y="-22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2D6A4F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456;g34baff7be12_1_0">
            <a:extLst>
              <a:ext uri="{FF2B5EF4-FFF2-40B4-BE49-F238E27FC236}">
                <a16:creationId xmlns:a16="http://schemas.microsoft.com/office/drawing/2014/main" id="{DDF074FB-325D-EDEB-53DA-76E8AAA204C6}"/>
              </a:ext>
            </a:extLst>
          </p:cNvPr>
          <p:cNvSpPr/>
          <p:nvPr/>
        </p:nvSpPr>
        <p:spPr>
          <a:xfrm>
            <a:off x="59597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457;g34baff7be12_1_0">
            <a:extLst>
              <a:ext uri="{FF2B5EF4-FFF2-40B4-BE49-F238E27FC236}">
                <a16:creationId xmlns:a16="http://schemas.microsoft.com/office/drawing/2014/main" id="{641E9F6A-55FF-1D11-12CE-D89A5D23C98A}"/>
              </a:ext>
            </a:extLst>
          </p:cNvPr>
          <p:cNvSpPr/>
          <p:nvPr/>
        </p:nvSpPr>
        <p:spPr>
          <a:xfrm>
            <a:off x="74802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458;g34baff7be12_1_0">
            <a:extLst>
              <a:ext uri="{FF2B5EF4-FFF2-40B4-BE49-F238E27FC236}">
                <a16:creationId xmlns:a16="http://schemas.microsoft.com/office/drawing/2014/main" id="{FB55936C-C64D-EA8C-8AC3-B627A888C073}"/>
              </a:ext>
            </a:extLst>
          </p:cNvPr>
          <p:cNvSpPr/>
          <p:nvPr/>
        </p:nvSpPr>
        <p:spPr>
          <a:xfrm>
            <a:off x="-4450" y="-225"/>
            <a:ext cx="1611600" cy="335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463;g34baff7be12_1_0">
            <a:extLst>
              <a:ext uri="{FF2B5EF4-FFF2-40B4-BE49-F238E27FC236}">
                <a16:creationId xmlns:a16="http://schemas.microsoft.com/office/drawing/2014/main" id="{22F53646-7966-4B80-D9FC-824CA24A7B4C}"/>
              </a:ext>
            </a:extLst>
          </p:cNvPr>
          <p:cNvSpPr txBox="1"/>
          <p:nvPr/>
        </p:nvSpPr>
        <p:spPr>
          <a:xfrm>
            <a:off x="6110825" y="-75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3C19AE66-2CAD-9044-4FDB-093F9E0B0654}"/>
              </a:ext>
            </a:extLst>
          </p:cNvPr>
          <p:cNvSpPr txBox="1"/>
          <p:nvPr/>
        </p:nvSpPr>
        <p:spPr>
          <a:xfrm>
            <a:off x="1595823" y="-69353"/>
            <a:ext cx="1508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Sources de Données</a:t>
            </a:r>
            <a:endParaRPr lang="en-US" sz="1100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4939A12-66F1-5127-806A-43099A1CF914}"/>
              </a:ext>
            </a:extLst>
          </p:cNvPr>
          <p:cNvSpPr txBox="1"/>
          <p:nvPr/>
        </p:nvSpPr>
        <p:spPr>
          <a:xfrm>
            <a:off x="3383280" y="13758"/>
            <a:ext cx="94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fr-FR" sz="1200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D6DD5B96-E4DD-2BEB-14F7-4C22799F184A}"/>
              </a:ext>
            </a:extLst>
          </p:cNvPr>
          <p:cNvSpPr txBox="1"/>
          <p:nvPr/>
        </p:nvSpPr>
        <p:spPr>
          <a:xfrm>
            <a:off x="4899380" y="23570"/>
            <a:ext cx="9404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fr-FR" sz="1100" dirty="0">
              <a:solidFill>
                <a:schemeClr val="bg1"/>
              </a:solidFill>
            </a:endParaRP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A58E1BBA-1621-A1F8-F66F-37230F33DFE6}"/>
              </a:ext>
            </a:extLst>
          </p:cNvPr>
          <p:cNvSpPr txBox="1"/>
          <p:nvPr/>
        </p:nvSpPr>
        <p:spPr>
          <a:xfrm>
            <a:off x="6227265" y="-47969"/>
            <a:ext cx="12477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Meilleur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Modèle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100" dirty="0"/>
          </a:p>
        </p:txBody>
      </p:sp>
      <p:sp>
        <p:nvSpPr>
          <p:cNvPr id="69" name="Text 1">
            <a:extLst>
              <a:ext uri="{FF2B5EF4-FFF2-40B4-BE49-F238E27FC236}">
                <a16:creationId xmlns:a16="http://schemas.microsoft.com/office/drawing/2014/main" id="{F5EA7E97-8044-D1C6-31C8-47AC857B29EB}"/>
              </a:ext>
            </a:extLst>
          </p:cNvPr>
          <p:cNvSpPr/>
          <p:nvPr/>
        </p:nvSpPr>
        <p:spPr>
          <a:xfrm>
            <a:off x="290077" y="-172403"/>
            <a:ext cx="1247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&amp;</a:t>
            </a:r>
          </a:p>
          <a:p>
            <a:pPr marL="0" indent="0">
              <a:buNone/>
            </a:pP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70" name="Google Shape;463;g34baff7be12_1_0">
            <a:extLst>
              <a:ext uri="{FF2B5EF4-FFF2-40B4-BE49-F238E27FC236}">
                <a16:creationId xmlns:a16="http://schemas.microsoft.com/office/drawing/2014/main" id="{BC6B1CC2-AD6E-0AA5-EDE6-8B5013247041}"/>
              </a:ext>
            </a:extLst>
          </p:cNvPr>
          <p:cNvSpPr txBox="1"/>
          <p:nvPr/>
        </p:nvSpPr>
        <p:spPr>
          <a:xfrm>
            <a:off x="7786875" y="-19138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4BA9B68D-11B2-855E-2C87-E5ACD6D4761E}"/>
              </a:ext>
            </a:extLst>
          </p:cNvPr>
          <p:cNvSpPr txBox="1"/>
          <p:nvPr/>
        </p:nvSpPr>
        <p:spPr>
          <a:xfrm>
            <a:off x="232202" y="963758"/>
            <a:ext cx="3868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77"/>
              </a:spcBef>
              <a:spcAft>
                <a:spcPts val="726"/>
              </a:spcAft>
              <a:buNone/>
            </a:pPr>
            <a:r>
              <a:rPr lang="fr-FR" b="0" i="0" dirty="0">
                <a:effectLst/>
                <a:latin typeface="system-ui"/>
              </a:rPr>
              <a:t>🤖</a:t>
            </a:r>
          </a:p>
        </p:txBody>
      </p:sp>
      <p:pic>
        <p:nvPicPr>
          <p:cNvPr id="74" name="Image 73">
            <a:extLst>
              <a:ext uri="{FF2B5EF4-FFF2-40B4-BE49-F238E27FC236}">
                <a16:creationId xmlns:a16="http://schemas.microsoft.com/office/drawing/2014/main" id="{790129BC-0E07-9E93-1D3D-8A2241B40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94" y="1670652"/>
            <a:ext cx="401134" cy="401134"/>
          </a:xfrm>
          <a:prstGeom prst="rect">
            <a:avLst/>
          </a:prstGeom>
        </p:spPr>
      </p:pic>
      <p:pic>
        <p:nvPicPr>
          <p:cNvPr id="76" name="Image 75">
            <a:extLst>
              <a:ext uri="{FF2B5EF4-FFF2-40B4-BE49-F238E27FC236}">
                <a16:creationId xmlns:a16="http://schemas.microsoft.com/office/drawing/2014/main" id="{0484AEAA-55C3-BA47-EF2C-DACCB38A7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09" y="2429716"/>
            <a:ext cx="378809" cy="378809"/>
          </a:xfrm>
          <a:prstGeom prst="rect">
            <a:avLst/>
          </a:prstGeom>
        </p:spPr>
      </p:pic>
      <p:pic>
        <p:nvPicPr>
          <p:cNvPr id="78" name="Image 77">
            <a:extLst>
              <a:ext uri="{FF2B5EF4-FFF2-40B4-BE49-F238E27FC236}">
                <a16:creationId xmlns:a16="http://schemas.microsoft.com/office/drawing/2014/main" id="{4C5F6562-CD60-ABF0-06D2-BB50D88D1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10" y="3110748"/>
            <a:ext cx="462644" cy="462644"/>
          </a:xfrm>
          <a:prstGeom prst="rect">
            <a:avLst/>
          </a:prstGeom>
        </p:spPr>
      </p:pic>
      <p:sp>
        <p:nvSpPr>
          <p:cNvPr id="79" name="Text 43">
            <a:extLst>
              <a:ext uri="{FF2B5EF4-FFF2-40B4-BE49-F238E27FC236}">
                <a16:creationId xmlns:a16="http://schemas.microsoft.com/office/drawing/2014/main" id="{B14BE914-E2B0-65B7-3786-495DC9F34C88}"/>
              </a:ext>
            </a:extLst>
          </p:cNvPr>
          <p:cNvSpPr/>
          <p:nvPr/>
        </p:nvSpPr>
        <p:spPr>
          <a:xfrm>
            <a:off x="3225061" y="159262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→</a:t>
            </a:r>
            <a:endParaRPr lang="en-US" sz="800" b="1" dirty="0"/>
          </a:p>
        </p:txBody>
      </p:sp>
      <p:sp>
        <p:nvSpPr>
          <p:cNvPr id="80" name="Text 44">
            <a:extLst>
              <a:ext uri="{FF2B5EF4-FFF2-40B4-BE49-F238E27FC236}">
                <a16:creationId xmlns:a16="http://schemas.microsoft.com/office/drawing/2014/main" id="{E0C9236C-2738-F25D-D920-F0ED594A4A3A}"/>
              </a:ext>
            </a:extLst>
          </p:cNvPr>
          <p:cNvSpPr/>
          <p:nvPr/>
        </p:nvSpPr>
        <p:spPr>
          <a:xfrm>
            <a:off x="7234786" y="1597961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→</a:t>
            </a:r>
            <a:endParaRPr lang="en-US" sz="800" b="1" dirty="0"/>
          </a:p>
        </p:txBody>
      </p:sp>
      <p:sp>
        <p:nvSpPr>
          <p:cNvPr id="81" name="Text 44">
            <a:extLst>
              <a:ext uri="{FF2B5EF4-FFF2-40B4-BE49-F238E27FC236}">
                <a16:creationId xmlns:a16="http://schemas.microsoft.com/office/drawing/2014/main" id="{723EC17F-FAF4-7C64-A715-D53FC697CC77}"/>
              </a:ext>
            </a:extLst>
          </p:cNvPr>
          <p:cNvSpPr/>
          <p:nvPr/>
        </p:nvSpPr>
        <p:spPr>
          <a:xfrm>
            <a:off x="7243132" y="228649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→</a:t>
            </a:r>
            <a:endParaRPr lang="en-US" sz="800" b="1" dirty="0"/>
          </a:p>
        </p:txBody>
      </p:sp>
      <p:sp>
        <p:nvSpPr>
          <p:cNvPr id="82" name="Text 44">
            <a:extLst>
              <a:ext uri="{FF2B5EF4-FFF2-40B4-BE49-F238E27FC236}">
                <a16:creationId xmlns:a16="http://schemas.microsoft.com/office/drawing/2014/main" id="{9E154062-6A0B-4131-CA49-176A25F86FD9}"/>
              </a:ext>
            </a:extLst>
          </p:cNvPr>
          <p:cNvSpPr/>
          <p:nvPr/>
        </p:nvSpPr>
        <p:spPr>
          <a:xfrm>
            <a:off x="7205451" y="300374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→</a:t>
            </a:r>
            <a:endParaRPr lang="en-US" sz="800" b="1" dirty="0"/>
          </a:p>
        </p:txBody>
      </p:sp>
      <p:sp>
        <p:nvSpPr>
          <p:cNvPr id="83" name="Text 43">
            <a:extLst>
              <a:ext uri="{FF2B5EF4-FFF2-40B4-BE49-F238E27FC236}">
                <a16:creationId xmlns:a16="http://schemas.microsoft.com/office/drawing/2014/main" id="{1333944A-BA91-5768-B10B-751E71BF769B}"/>
              </a:ext>
            </a:extLst>
          </p:cNvPr>
          <p:cNvSpPr/>
          <p:nvPr/>
        </p:nvSpPr>
        <p:spPr>
          <a:xfrm>
            <a:off x="3219772" y="22806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→</a:t>
            </a:r>
            <a:endParaRPr lang="en-US" sz="800" b="1" dirty="0"/>
          </a:p>
        </p:txBody>
      </p:sp>
      <p:sp>
        <p:nvSpPr>
          <p:cNvPr id="84" name="Text 43">
            <a:extLst>
              <a:ext uri="{FF2B5EF4-FFF2-40B4-BE49-F238E27FC236}">
                <a16:creationId xmlns:a16="http://schemas.microsoft.com/office/drawing/2014/main" id="{92BAB346-0DA8-F893-03DA-F27839C3C0DF}"/>
              </a:ext>
            </a:extLst>
          </p:cNvPr>
          <p:cNvSpPr/>
          <p:nvPr/>
        </p:nvSpPr>
        <p:spPr>
          <a:xfrm>
            <a:off x="3231480" y="301288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→</a:t>
            </a:r>
            <a:endParaRPr lang="en-US" sz="800" b="1" dirty="0"/>
          </a:p>
        </p:txBody>
      </p:sp>
      <p:sp>
        <p:nvSpPr>
          <p:cNvPr id="85" name="Text 43">
            <a:extLst>
              <a:ext uri="{FF2B5EF4-FFF2-40B4-BE49-F238E27FC236}">
                <a16:creationId xmlns:a16="http://schemas.microsoft.com/office/drawing/2014/main" id="{3A5A41E1-D470-7E8E-3C9D-58D2A723411F}"/>
              </a:ext>
            </a:extLst>
          </p:cNvPr>
          <p:cNvSpPr/>
          <p:nvPr/>
        </p:nvSpPr>
        <p:spPr>
          <a:xfrm>
            <a:off x="3219772" y="369728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→</a:t>
            </a:r>
            <a:endParaRPr lang="en-US" sz="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0180" y="936440"/>
            <a:ext cx="4114800" cy="2011680"/>
          </a:xfrm>
          <a:prstGeom prst="rect">
            <a:avLst/>
          </a:prstGeom>
          <a:solidFill>
            <a:srgbClr val="0D281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41620" y="1027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Random Forest Optimisé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3060" y="1576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7540" y="1576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87.4%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3060" y="1869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87540" y="1869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3060" y="2161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87540" y="2161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060" y="2454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87540" y="2454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0180" y="303956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50180" y="3039560"/>
            <a:ext cx="73152" cy="14173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3060" y="3085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hyperparamètres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8780" y="3405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200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780" y="3652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 = 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8780" y="3899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min_samples_split =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8780" y="41459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min_samples_leaf =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39300" y="93644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30740" y="1027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0740" y="1485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precip_rolling_30j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30740" y="1731968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30740" y="1731968"/>
            <a:ext cx="2710282" cy="16459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251180" y="171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0740" y="2033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temperature_moy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0740" y="2280608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730740" y="2280608"/>
            <a:ext cx="2119579" cy="16459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251180" y="2262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0740" y="2582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precip_rolling_7j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30740" y="2829248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730740" y="2829248"/>
            <a:ext cx="1911096" cy="16459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251180" y="2810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30740" y="3131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humidite_pct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0740" y="3377888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730740" y="3377888"/>
            <a:ext cx="1459382" cy="16459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251180" y="3359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0740" y="3679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jour_sec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0740" y="3926528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730740" y="3926528"/>
            <a:ext cx="1216152" cy="16459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8251180" y="3908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 Guezguez — Projet ML 2025/2026</a:t>
            </a:r>
            <a:endParaRPr lang="en-US" sz="800" dirty="0"/>
          </a:p>
        </p:txBody>
      </p:sp>
      <p:sp>
        <p:nvSpPr>
          <p:cNvPr id="44" name="Google Shape;447;g34baff7be12_1_0">
            <a:extLst>
              <a:ext uri="{FF2B5EF4-FFF2-40B4-BE49-F238E27FC236}">
                <a16:creationId xmlns:a16="http://schemas.microsoft.com/office/drawing/2014/main" id="{92A1E3F8-3741-5E80-7C91-CDE2A09DE611}"/>
              </a:ext>
            </a:extLst>
          </p:cNvPr>
          <p:cNvSpPr/>
          <p:nvPr/>
        </p:nvSpPr>
        <p:spPr>
          <a:xfrm>
            <a:off x="1415900" y="-7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4;g34baff7be12_1_0">
            <a:extLst>
              <a:ext uri="{FF2B5EF4-FFF2-40B4-BE49-F238E27FC236}">
                <a16:creationId xmlns:a16="http://schemas.microsoft.com/office/drawing/2014/main" id="{B01E2861-2C07-A83B-0993-F9DABF57ED8A}"/>
              </a:ext>
            </a:extLst>
          </p:cNvPr>
          <p:cNvSpPr/>
          <p:nvPr/>
        </p:nvSpPr>
        <p:spPr>
          <a:xfrm>
            <a:off x="2932000" y="-2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55;g34baff7be12_1_0">
            <a:extLst>
              <a:ext uri="{FF2B5EF4-FFF2-40B4-BE49-F238E27FC236}">
                <a16:creationId xmlns:a16="http://schemas.microsoft.com/office/drawing/2014/main" id="{CF2F4175-C3E2-1171-30FA-15799AC65A5A}"/>
              </a:ext>
            </a:extLst>
          </p:cNvPr>
          <p:cNvSpPr/>
          <p:nvPr/>
        </p:nvSpPr>
        <p:spPr>
          <a:xfrm>
            <a:off x="4448050" y="-22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56;g34baff7be12_1_0">
            <a:extLst>
              <a:ext uri="{FF2B5EF4-FFF2-40B4-BE49-F238E27FC236}">
                <a16:creationId xmlns:a16="http://schemas.microsoft.com/office/drawing/2014/main" id="{CD2E2200-2F3B-C574-C554-A1843347DBF5}"/>
              </a:ext>
            </a:extLst>
          </p:cNvPr>
          <p:cNvSpPr/>
          <p:nvPr/>
        </p:nvSpPr>
        <p:spPr>
          <a:xfrm>
            <a:off x="59597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2D6A4F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57;g34baff7be12_1_0">
            <a:extLst>
              <a:ext uri="{FF2B5EF4-FFF2-40B4-BE49-F238E27FC236}">
                <a16:creationId xmlns:a16="http://schemas.microsoft.com/office/drawing/2014/main" id="{FCACFF80-2882-2BE8-B1A7-BF5442F2A10D}"/>
              </a:ext>
            </a:extLst>
          </p:cNvPr>
          <p:cNvSpPr/>
          <p:nvPr/>
        </p:nvSpPr>
        <p:spPr>
          <a:xfrm>
            <a:off x="74802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FFFFFB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58;g34baff7be12_1_0">
            <a:extLst>
              <a:ext uri="{FF2B5EF4-FFF2-40B4-BE49-F238E27FC236}">
                <a16:creationId xmlns:a16="http://schemas.microsoft.com/office/drawing/2014/main" id="{9B1FE11E-7046-4185-C8C9-45611ED6DEB6}"/>
              </a:ext>
            </a:extLst>
          </p:cNvPr>
          <p:cNvSpPr/>
          <p:nvPr/>
        </p:nvSpPr>
        <p:spPr>
          <a:xfrm>
            <a:off x="-4450" y="-225"/>
            <a:ext cx="1611600" cy="335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463;g34baff7be12_1_0">
            <a:extLst>
              <a:ext uri="{FF2B5EF4-FFF2-40B4-BE49-F238E27FC236}">
                <a16:creationId xmlns:a16="http://schemas.microsoft.com/office/drawing/2014/main" id="{D90674D6-A50F-61C6-8076-25E1334BCDA5}"/>
              </a:ext>
            </a:extLst>
          </p:cNvPr>
          <p:cNvSpPr txBox="1"/>
          <p:nvPr/>
        </p:nvSpPr>
        <p:spPr>
          <a:xfrm>
            <a:off x="6110825" y="-75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5A7D944-1FAB-7526-A882-826DF6744023}"/>
              </a:ext>
            </a:extLst>
          </p:cNvPr>
          <p:cNvSpPr txBox="1"/>
          <p:nvPr/>
        </p:nvSpPr>
        <p:spPr>
          <a:xfrm>
            <a:off x="1595823" y="-69353"/>
            <a:ext cx="1508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Sources de Données</a:t>
            </a:r>
            <a:endParaRPr lang="en-US" sz="1100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80A5032-58C8-871E-43A6-FEA3BFDD047D}"/>
              </a:ext>
            </a:extLst>
          </p:cNvPr>
          <p:cNvSpPr txBox="1"/>
          <p:nvPr/>
        </p:nvSpPr>
        <p:spPr>
          <a:xfrm>
            <a:off x="3383280" y="13758"/>
            <a:ext cx="94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fr-FR" sz="1200" dirty="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20C6C0B6-93DA-4B26-443F-0CB66AFD6379}"/>
              </a:ext>
            </a:extLst>
          </p:cNvPr>
          <p:cNvSpPr txBox="1"/>
          <p:nvPr/>
        </p:nvSpPr>
        <p:spPr>
          <a:xfrm>
            <a:off x="4899380" y="23570"/>
            <a:ext cx="9404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fr-FR" sz="1100" dirty="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92A02A00-5FF3-F60B-EAA7-646DC2841442}"/>
              </a:ext>
            </a:extLst>
          </p:cNvPr>
          <p:cNvSpPr txBox="1"/>
          <p:nvPr/>
        </p:nvSpPr>
        <p:spPr>
          <a:xfrm>
            <a:off x="6227265" y="-47969"/>
            <a:ext cx="12477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Meilleur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Modèle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100" dirty="0"/>
          </a:p>
        </p:txBody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54D4F075-693B-AE43-7678-60902EFA2E0B}"/>
              </a:ext>
            </a:extLst>
          </p:cNvPr>
          <p:cNvSpPr/>
          <p:nvPr/>
        </p:nvSpPr>
        <p:spPr>
          <a:xfrm>
            <a:off x="290077" y="-172403"/>
            <a:ext cx="1247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&amp;</a:t>
            </a:r>
          </a:p>
          <a:p>
            <a:pPr marL="0" indent="0">
              <a:buNone/>
            </a:pP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56" name="Google Shape;463;g34baff7be12_1_0">
            <a:extLst>
              <a:ext uri="{FF2B5EF4-FFF2-40B4-BE49-F238E27FC236}">
                <a16:creationId xmlns:a16="http://schemas.microsoft.com/office/drawing/2014/main" id="{9453C028-14E7-6F43-3E34-F251C32115A5}"/>
              </a:ext>
            </a:extLst>
          </p:cNvPr>
          <p:cNvSpPr txBox="1"/>
          <p:nvPr/>
        </p:nvSpPr>
        <p:spPr>
          <a:xfrm>
            <a:off x="7786875" y="-19138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2C644759-8229-E4A1-8222-19B80A10C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130" y="984942"/>
            <a:ext cx="394696" cy="394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Web — Streamlit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560320" cy="384048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Accueil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pipeline, présentation du projet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560320" cy="384048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Carte Interactive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— risque par gouvernorat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560320" cy="384048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Prédiction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+ probabilités + export PDF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2560320" cy="384048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EDA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Plotly interactifs + filtres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0" y="3108960"/>
            <a:ext cx="2560320" cy="384048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91840" y="3154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Comparaison Modèles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611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chart, feature importance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1089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035040" y="3108960"/>
            <a:ext cx="2560320" cy="384048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26480" y="3154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Mon Profil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611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+ infos utilisateur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 Guezguez — Projet ML 2025/2026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59700" y="-896112"/>
            <a:ext cx="4572000" cy="4572000"/>
          </a:xfrm>
          <a:prstGeom prst="ellipse">
            <a:avLst/>
          </a:prstGeom>
          <a:solidFill>
            <a:srgbClr val="1B4332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09870"/>
            <a:ext cx="8046720" cy="475488"/>
          </a:xfrm>
          <a:prstGeom prst="rect">
            <a:avLst/>
          </a:prstGeom>
          <a:solidFill>
            <a:srgbClr val="2D6A4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94360" y="113730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 Projet ML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04230"/>
            <a:ext cx="8046720" cy="475488"/>
          </a:xfrm>
          <a:prstGeom prst="rect">
            <a:avLst/>
          </a:prstGeom>
          <a:solidFill>
            <a:srgbClr val="1B4332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73166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 100% original — NASA POWER API + data.gov.tn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98590"/>
            <a:ext cx="8046720" cy="475488"/>
          </a:xfrm>
          <a:prstGeom prst="rect">
            <a:avLst/>
          </a:prstGeom>
          <a:solidFill>
            <a:srgbClr val="1B4332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232602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 : RF Optimisé — Accuracy 87.4%, F1 = 0.873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92950"/>
            <a:ext cx="8046720" cy="475488"/>
          </a:xfrm>
          <a:prstGeom prst="rect">
            <a:avLst/>
          </a:prstGeom>
          <a:solidFill>
            <a:srgbClr val="1B4332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292038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avec carte interactive, authentication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87310"/>
            <a:ext cx="8046720" cy="475488"/>
          </a:xfrm>
          <a:prstGeom prst="rect">
            <a:avLst/>
          </a:prstGeom>
          <a:solidFill>
            <a:srgbClr val="2D6A4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351474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cloud (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Cloud)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4480560"/>
            <a:ext cx="3657600" cy="548640"/>
          </a:xfrm>
          <a:prstGeom prst="rect">
            <a:avLst/>
          </a:prstGeom>
          <a:solidFill>
            <a:srgbClr val="52B7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0" y="4498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 🌾</a:t>
            </a:r>
            <a:endParaRPr lang="en-US" sz="1300" dirty="0"/>
          </a:p>
        </p:txBody>
      </p:sp>
      <p:sp>
        <p:nvSpPr>
          <p:cNvPr id="16" name="Google Shape;447;g34baff7be12_1_0">
            <a:extLst>
              <a:ext uri="{FF2B5EF4-FFF2-40B4-BE49-F238E27FC236}">
                <a16:creationId xmlns:a16="http://schemas.microsoft.com/office/drawing/2014/main" id="{30E5FA0A-76FB-8B72-1832-04A5A800DCE3}"/>
              </a:ext>
            </a:extLst>
          </p:cNvPr>
          <p:cNvSpPr/>
          <p:nvPr/>
        </p:nvSpPr>
        <p:spPr>
          <a:xfrm>
            <a:off x="1415900" y="-7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454;g34baff7be12_1_0">
            <a:extLst>
              <a:ext uri="{FF2B5EF4-FFF2-40B4-BE49-F238E27FC236}">
                <a16:creationId xmlns:a16="http://schemas.microsoft.com/office/drawing/2014/main" id="{2E6647F3-4112-A7BC-20F2-97B9D98A4B72}"/>
              </a:ext>
            </a:extLst>
          </p:cNvPr>
          <p:cNvSpPr/>
          <p:nvPr/>
        </p:nvSpPr>
        <p:spPr>
          <a:xfrm>
            <a:off x="2932000" y="-2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455;g34baff7be12_1_0">
            <a:extLst>
              <a:ext uri="{FF2B5EF4-FFF2-40B4-BE49-F238E27FC236}">
                <a16:creationId xmlns:a16="http://schemas.microsoft.com/office/drawing/2014/main" id="{B3AC92DD-4CA0-433A-B81B-3500731DD75F}"/>
              </a:ext>
            </a:extLst>
          </p:cNvPr>
          <p:cNvSpPr/>
          <p:nvPr/>
        </p:nvSpPr>
        <p:spPr>
          <a:xfrm>
            <a:off x="4448050" y="-22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456;g34baff7be12_1_0">
            <a:extLst>
              <a:ext uri="{FF2B5EF4-FFF2-40B4-BE49-F238E27FC236}">
                <a16:creationId xmlns:a16="http://schemas.microsoft.com/office/drawing/2014/main" id="{587F74F9-DD5B-045B-D291-CE994E326FCE}"/>
              </a:ext>
            </a:extLst>
          </p:cNvPr>
          <p:cNvSpPr/>
          <p:nvPr/>
        </p:nvSpPr>
        <p:spPr>
          <a:xfrm>
            <a:off x="5959700" y="-75"/>
            <a:ext cx="1707300" cy="335400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457;g34baff7be12_1_0">
            <a:extLst>
              <a:ext uri="{FF2B5EF4-FFF2-40B4-BE49-F238E27FC236}">
                <a16:creationId xmlns:a16="http://schemas.microsoft.com/office/drawing/2014/main" id="{300C2E4C-B2B7-3B66-4192-798667AEBC59}"/>
              </a:ext>
            </a:extLst>
          </p:cNvPr>
          <p:cNvSpPr/>
          <p:nvPr/>
        </p:nvSpPr>
        <p:spPr>
          <a:xfrm>
            <a:off x="7480200" y="-75"/>
            <a:ext cx="1707300" cy="335400"/>
          </a:xfrm>
          <a:prstGeom prst="chevron">
            <a:avLst>
              <a:gd name="adj" fmla="val 50000"/>
            </a:avLst>
          </a:prstGeom>
          <a:solidFill>
            <a:srgbClr val="2D6A4F"/>
          </a:solidFill>
          <a:ln w="9525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458;g34baff7be12_1_0">
            <a:extLst>
              <a:ext uri="{FF2B5EF4-FFF2-40B4-BE49-F238E27FC236}">
                <a16:creationId xmlns:a16="http://schemas.microsoft.com/office/drawing/2014/main" id="{F4824A06-6742-D0C7-C2C9-9D549BD38240}"/>
              </a:ext>
            </a:extLst>
          </p:cNvPr>
          <p:cNvSpPr/>
          <p:nvPr/>
        </p:nvSpPr>
        <p:spPr>
          <a:xfrm>
            <a:off x="-4450" y="-225"/>
            <a:ext cx="1611600" cy="335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463;g34baff7be12_1_0">
            <a:extLst>
              <a:ext uri="{FF2B5EF4-FFF2-40B4-BE49-F238E27FC236}">
                <a16:creationId xmlns:a16="http://schemas.microsoft.com/office/drawing/2014/main" id="{E9286361-523D-8CB0-35BD-25C2C824BAF2}"/>
              </a:ext>
            </a:extLst>
          </p:cNvPr>
          <p:cNvSpPr txBox="1"/>
          <p:nvPr/>
        </p:nvSpPr>
        <p:spPr>
          <a:xfrm>
            <a:off x="6110825" y="-75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27D0C2A-D12E-5B2E-3890-2F4B430098EA}"/>
              </a:ext>
            </a:extLst>
          </p:cNvPr>
          <p:cNvSpPr txBox="1"/>
          <p:nvPr/>
        </p:nvSpPr>
        <p:spPr>
          <a:xfrm>
            <a:off x="1595823" y="-69353"/>
            <a:ext cx="1508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Sources de Données</a:t>
            </a:r>
            <a:endParaRPr lang="en-US" sz="11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13F2A8F-E78B-6471-2B29-DC89C30851BD}"/>
              </a:ext>
            </a:extLst>
          </p:cNvPr>
          <p:cNvSpPr txBox="1"/>
          <p:nvPr/>
        </p:nvSpPr>
        <p:spPr>
          <a:xfrm>
            <a:off x="3383280" y="13758"/>
            <a:ext cx="94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fr-FR" sz="12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24077A7-E031-A93F-3128-C7AA19FB5734}"/>
              </a:ext>
            </a:extLst>
          </p:cNvPr>
          <p:cNvSpPr txBox="1"/>
          <p:nvPr/>
        </p:nvSpPr>
        <p:spPr>
          <a:xfrm>
            <a:off x="4899380" y="23570"/>
            <a:ext cx="9404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fr-FR" sz="11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F96857F-1EBD-2C84-34EF-16301267AD3D}"/>
              </a:ext>
            </a:extLst>
          </p:cNvPr>
          <p:cNvSpPr txBox="1"/>
          <p:nvPr/>
        </p:nvSpPr>
        <p:spPr>
          <a:xfrm>
            <a:off x="6227265" y="-47969"/>
            <a:ext cx="12477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Meilleur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Modèle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11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1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F5FFCEE-A9CE-76D1-24BF-B48FF18F0D02}"/>
              </a:ext>
            </a:extLst>
          </p:cNvPr>
          <p:cNvSpPr/>
          <p:nvPr/>
        </p:nvSpPr>
        <p:spPr>
          <a:xfrm>
            <a:off x="290077" y="-172403"/>
            <a:ext cx="1247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&amp;</a:t>
            </a:r>
          </a:p>
          <a:p>
            <a:pPr marL="0" indent="0">
              <a:buNone/>
            </a:pPr>
            <a:r>
              <a:rPr lang="en-US" sz="10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28" name="Google Shape;463;g34baff7be12_1_0">
            <a:extLst>
              <a:ext uri="{FF2B5EF4-FFF2-40B4-BE49-F238E27FC236}">
                <a16:creationId xmlns:a16="http://schemas.microsoft.com/office/drawing/2014/main" id="{6CAE328C-8C1C-D901-475F-6B16BCC14DD6}"/>
              </a:ext>
            </a:extLst>
          </p:cNvPr>
          <p:cNvSpPr txBox="1"/>
          <p:nvPr/>
        </p:nvSpPr>
        <p:spPr>
          <a:xfrm>
            <a:off x="7818125" y="-26174"/>
            <a:ext cx="1818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1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608</Words>
  <Application>Microsoft Office PowerPoint</Application>
  <PresentationFormat>Affichage à l'écran (16:9)</PresentationFormat>
  <Paragraphs>193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Calibri</vt:lpstr>
      <vt:lpstr>Georgia</vt:lpstr>
      <vt:lpstr>Roboto</vt:lpstr>
      <vt:lpstr>system-ui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de la Secheresse Agricole en Tunisie</dc:title>
  <dc:subject>PptxGenJS Presentation</dc:subject>
  <dc:creator>Souha Guezguez</dc:creator>
  <cp:lastModifiedBy>guezguez souha</cp:lastModifiedBy>
  <cp:revision>4</cp:revision>
  <dcterms:created xsi:type="dcterms:W3CDTF">2026-04-10T12:55:23Z</dcterms:created>
  <dcterms:modified xsi:type="dcterms:W3CDTF">2026-04-13T22:43:33Z</dcterms:modified>
</cp:coreProperties>
</file>